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30-second pitch: 'Raipur already has 500+ CCTV cameras. They just record. RaipurNetra AI adds the AI brain on top - seeing every vehicle, predicting jams 30 minutes early, controlling signals automatically, talking to citizens in Hindi on WhatsApp. Zero new hardware, Rs 4.25 lakh total, self-funding from week 1. Everything in this deck maps to a working live system.'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in 20 seconds: 15+ lakh vehicles growing 8-10% yearly, fixed signal timers (same at 3 AM and 5 PM rush), only 5-10% of violations detected, citizens have zero real-time info, police are reactive. Then pivot to the insight: 500+ cameras sit doing passive recording. The problem is not lack of cameras - it's lack of intelligence. Rs 0 new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platform, five layers, all eight requirements. Walk the stack bottom-up: SEE (YOLOv8 on existing CCTV, ANPR, violation detection), THINK (30-min prediction + TrafficGPT), MIRROR (digital twin + what-if), TELL (WhatsApp in Hindi, buses, parking, ride matching), ACT (adaptive signals, bus priority, emergency corridor). Data flows up, actions flow down. Emphasize: built on the existing 500 cameras.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Prove the intelligence is real. Left: the vision pipeline - YOLOv8 detects, classifies and tracks every vehicle; ANPR reads CG-04 plates and auto-generates e-challans with photo evidence; violation detection jumps from 5-10% manual to 85%+ automated. Right: the prediction engine - gradient-boosted ensemble (the LSTM+XGBoost architecture from our proposal), 30 and 60 minute horizons, 83-92% validated hit-rate, retrained on live data. Bottom: TrafficGPT answers in Hindi and English - zero app download.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showcase features. Mirror: a digital twin of real Raipur GPS coordinates - live congestion-colored roads, moving buses, signal states - and the what-if sandbox: close MG Road and the AI forecasts the impact on alternate routes BEFORE the real-world decision. Act: adaptive signals with green time as a function of vehicle count, queue length, waiting time and neighbouring junctions - 25-35% wait reduction - plus the emergency green corridor that saves 8-12 minutes per emergency.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jury scorecard slide: all 8 hackathon requirements plus both bonuses, each implemented in a named module of the working system. Read 2-3 rows aloud, not all 10. Key line: every requirement is covered by at least two layers, so the platform has depth and redundancy - single-feature teams can't match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slide - say: 'Everything so far exists as a working system, not slides.' Then switch to the browser and run the demo in this order: Video Detection (real YOLO/CV + bind to junction), Digital Twin Real Map + what-if road closure, Signals fixed-vs-adaptive switch, ANPR feed + plate lookup, TrafficGPT in Hindi, Emergency Corridor, Prediction retrain, Analytics daily report. 10-12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business case. Cost: Rs 2.5 lakh GPU server (or Rs 15k/month cloud), Rs 1.5 lakh for 10 edge AI devices, Rs 25k for 50 bus GPS trackers, Rs 13k/month operating (WhatsApp API + cloud). Total: Rs 4.25 lakh one-time. Revenue: Rs 15 lakh/month e-challans at just 100 violations/day x Rs 500, Rs 2 lakh smart parking fees, Rs 50k ride-match premium = Rs 17.5 lakh/month. ROI in the first week. Compare: traditional ITS costs Rs 5-10 crore - we are 99% cheaper.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table - read 3 rows max: signal wait nearly halves, violation detection jumps from 5-10% to 85%+, congestion warnings go from none to 30 minutes ahead. Then the phased plan: Phase 1 quick win at 5 junctions in 2 months (Jaistambh, Telibandha, Fafadih, Pandri, Marine Drive) - Phase 2 expands to 20 with edge signals, buses, parking - Phase 3 full intelligence at 50 junctions with twin and TrafficGPT.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differentiators - pick 4: zero new hardware (Rs 0), all 8 requirements + 2 bonuses in ONE platform, predictive not reactive, self-funding from week 1. Then the proof line: this is a working prototype running live today - deployable at 5 junctions in 60 days. End: 'Simple. Affordable. Life-Changing. That is RaipurNetra AI - the Intelligent Eye of Raipur. Thank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only if the jury asks 'what's the math?'. The master equation reads: optimal green time = Controller(30-min forecast, live perception). Walk one card: Greenshields speed-density is 70-year-old textbook traffic physics; Webster's demand-split is the global standard for signal timing; our ML learns the same structure from data. The payback identity closes the business case: 4.25 lakh / 17.5 lakh-per-month ≈ 7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868680"/>
            <a:ext cx="960120" cy="960120"/>
          </a:xfrm>
          <a:prstGeom prst="ellipse">
            <a:avLst/>
          </a:prstGeom>
          <a:solidFill>
            <a:srgbClr val="0A1122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" y="1188720"/>
            <a:ext cx="329184" cy="32918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E2E8F0"/>
                </a:solidFill>
                <a:latin typeface="Segoe UI"/>
              </a:rPr>
              <a:t>RaipurNetra </a:t>
            </a:r>
            <a:r>
              <a:rPr sz="5400" b="1">
                <a:solidFill>
                  <a:srgbClr val="38BDF8"/>
                </a:solidFill>
                <a:latin typeface="Segoe UI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8FA3C0"/>
                </a:solidFill>
                <a:latin typeface="Segoe UI"/>
              </a:rPr>
              <a:t>“The Intelligent Eye of Raipur”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E8F0"/>
                </a:solidFill>
                <a:latin typeface="Segoe UI"/>
              </a:rPr>
              <a:t>AI-Powered Intelligent Traffic Management System</a:t>
            </a:r>
            <a:r>
              <a:rPr sz="1800" b="0">
                <a:solidFill>
                  <a:srgbClr val="8FA3C0"/>
                </a:solidFill>
                <a:latin typeface="Segoe UI"/>
              </a:rPr>
              <a:t>  —  Raipur Police Commissionerate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26280"/>
            <a:ext cx="2898648" cy="475488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613148"/>
            <a:ext cx="28986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4ADE80"/>
                </a:solidFill>
                <a:latin typeface="Segoe UI"/>
              </a:rPr>
              <a:t>ZERO NEW HARDWARE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4526280"/>
            <a:ext cx="3044952" cy="475488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4613148"/>
            <a:ext cx="3044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Rs 4.25 LAKH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41464" y="4526280"/>
            <a:ext cx="3922776" cy="475488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 w="1524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4" y="4613148"/>
            <a:ext cx="39227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B923C"/>
                </a:solidFill>
                <a:latin typeface="Segoe UI"/>
              </a:rPr>
              <a:t>SELF-FUNDING FROM 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406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FA3C0"/>
                </a:solidFill>
                <a:latin typeface="Segoe UI"/>
              </a:rPr>
              <a:t>Raipur Traffic Hackathon 2026   ·   Theme: Infusion of AI/IoT in Traffic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97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Organized by: Raipur Police Commissionerate | IEI CG State Centre | NIT Raipur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Team: Akshita  ·  Pratik Raj  ·  Ayush Kumar  ·  Prince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The Problem: Raipur's Traffic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Segoe UI"/>
              </a:rPr>
              <a:t>Growing 12+ lakh population · 15 lakh registered vehicles · +8-10% every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RaipurNetra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6309360" cy="786384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82296" cy="78638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45336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Fixed signal timers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Same green time at 3 AM and 5 PM rush hour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95728"/>
            <a:ext cx="6309360" cy="786384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82296" cy="78638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78024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Manual enforcement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98064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Only 5-10% of violations detected; inconsistent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28416"/>
            <a:ext cx="6309360" cy="786384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28416"/>
            <a:ext cx="82296" cy="78638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10712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Zero real-time 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30752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No bus ETA, no parking info, no congestion alerts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61104"/>
            <a:ext cx="6309360" cy="786384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61104"/>
            <a:ext cx="82296" cy="78638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4340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Reactive policing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Jams are responded to AFTER they form, never prevented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93792"/>
            <a:ext cx="6309360" cy="786384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193792"/>
            <a:ext cx="82296" cy="78638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7608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Emergency delays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9612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Ambulances stuck in the same queues as everyone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1463040"/>
            <a:ext cx="4480560" cy="283464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 w="1524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169164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B923C"/>
                </a:solidFill>
                <a:latin typeface="Segoe UI"/>
              </a:rPr>
              <a:t>500+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487168"/>
            <a:ext cx="3931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2E8F0"/>
                </a:solidFill>
                <a:latin typeface="Segoe UI"/>
              </a:rPr>
              <a:t>CCTV cameras already installed across Raipur</a:t>
            </a:r>
            <a:r>
              <a:rPr sz="1600" b="0">
                <a:solidFill>
                  <a:srgbClr val="8FA3C0"/>
                </a:solidFill>
                <a:latin typeface="Segoe UI"/>
              </a:rPr>
              <a:t>used ONLY for passive recording.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4526280"/>
            <a:ext cx="4480560" cy="137160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4681728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The Opportunity</a:t>
            </a:r>
            <a:r>
              <a:rPr sz="1350" b="0">
                <a:solidFill>
                  <a:srgbClr val="E2E8F0"/>
                </a:solidFill>
                <a:latin typeface="Segoe UI"/>
              </a:rPr>
              <a:t>The problem is not lack of cameras — it's lack of intelligence. Add the AI brain: Rs 0 new hardware.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A3C0"/>
                </a:solidFill>
                <a:latin typeface="Segoe UI"/>
              </a:rPr>
              <a:t>Raipur Traffic Hackathon 2026  ·  Infusion of AI/IoT in Traffic Management  ·  Raipur Police Commissionerate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RaipurNetra AI — One Platform, 5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Segoe UI"/>
              </a:rPr>
              <a:t>An AI brain on top of existing CCTV · no new cameras · zero sensor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RaipurNetra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8778240" cy="859536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82296" cy="85953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8191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8BDF8"/>
                </a:solidFill>
                <a:latin typeface="Segoe UI"/>
              </a:rPr>
              <a:t>LAYER 5 ·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Adaptive Signals  ·  Bus Priority  ·  Emergency Green Corridor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728216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Edge AI devices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96312"/>
            <a:ext cx="8778240" cy="859536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96312"/>
            <a:ext cx="82296" cy="859536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6946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DE80"/>
                </a:solidFill>
                <a:latin typeface="Segoe UI"/>
              </a:rPr>
              <a:t>LAYER 4 · TELL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3512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WhatsApp Bot (Hindi)  ·  Live Bus Tracking  ·  Smart Parking  ·  Ride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71576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Citizen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83864"/>
            <a:ext cx="8778240" cy="859536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83864"/>
            <a:ext cx="82296" cy="859536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57016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ACC15"/>
                </a:solidFill>
                <a:latin typeface="Segoe UI"/>
              </a:rPr>
              <a:t>LAYER 3 · MIRROR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41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Digital Twin (real GPS map)  ·  What-If Simulation  ·  Live City Mirror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7033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3D simulation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71416"/>
            <a:ext cx="8778240" cy="859536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471416"/>
            <a:ext cx="82296" cy="859536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445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B923C"/>
                </a:solidFill>
                <a:latin typeface="Segoe UI"/>
              </a:rPr>
              <a:t>LAYER 2 · THINK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28616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30/60-min Congestion Prediction  ·  TrafficGPT Assistant  ·  Auto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69087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GenAI + 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58968"/>
            <a:ext cx="8778240" cy="859536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458968"/>
            <a:ext cx="82296" cy="859536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LAYER 1 ·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16168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YOLOv8 on Existing CCTV  ·  ANPR  ·  Violation Detection  ·  Density 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5678424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Computer vision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1508760"/>
            <a:ext cx="1874519" cy="480060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1691640"/>
            <a:ext cx="1554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8FA3C0"/>
                </a:solidFill>
                <a:latin typeface="Segoe UI"/>
              </a:rPr>
              <a:t>Built on</a:t>
            </a:r>
            <a:r>
              <a:rPr sz="1500" b="1">
                <a:solidFill>
                  <a:srgbClr val="E2E8F0"/>
                </a:solidFill>
                <a:latin typeface="Segoe UI"/>
              </a:rPr>
              <a:t>existing</a:t>
            </a:r>
            <a:r>
              <a:rPr sz="1500" b="1">
                <a:solidFill>
                  <a:srgbClr val="E2E8F0"/>
                </a:solidFill>
                <a:latin typeface="Segoe UI"/>
              </a:rPr>
              <a:t>infrastructure</a:t>
            </a:r>
            <a:r>
              <a:rPr sz="600" b="0">
                <a:solidFill>
                  <a:srgbClr val="8FA3C0"/>
                </a:solidFill>
                <a:latin typeface="Segoe UI"/>
              </a:rPr>
              <a:t/>
            </a:r>
            <a:r>
              <a:rPr sz="1400" b="1">
                <a:solidFill>
                  <a:srgbClr val="38BDF8"/>
                </a:solidFill>
                <a:latin typeface="Segoe UI"/>
              </a:rPr>
              <a:t>500+ cameras</a:t>
            </a:r>
            <a:r>
              <a:rPr sz="2000" b="1">
                <a:solidFill>
                  <a:srgbClr val="4ADE80"/>
                </a:solidFill>
                <a:latin typeface="Segoe UI"/>
              </a:rPr>
              <a:t>Rs 0</a:t>
            </a:r>
            <a:r>
              <a:rPr sz="1200" b="0">
                <a:solidFill>
                  <a:srgbClr val="8FA3C0"/>
                </a:solidFill>
                <a:latin typeface="Segoe UI"/>
              </a:rPr>
              <a:t>new hardware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A3C0"/>
                </a:solidFill>
                <a:latin typeface="Segoe UI"/>
              </a:rPr>
              <a:t>Raipur Traffic Hackathon 2026  ·  Infusion of AI/IoT in Traffic Management  ·  Raipur Police Commissionerate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Layer 1-2: The System Sees and Thinks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Segoe UI"/>
              </a:rPr>
              <a:t>Every camera becomes a sensor · every signal becomes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RaipurNetra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SEE — Computer Vision + ANPR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0292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YOLOv8 detects &amp; classifies every vehicle (car, bike, auto, truck, bus)</a:t>
            </a:r>
            <a:r>
              <a:rPr sz="1250" b="0">
                <a:solidFill>
                  <a:srgbClr val="E2E8F0"/>
                </a:solidFill>
                <a:latin typeface="Segoe UI"/>
              </a:rPr>
              <a:t>•  ANPR reads CG-04-XX-XXXX plates → RTO lookup → owner identified</a:t>
            </a:r>
            <a:r>
              <a:rPr sz="1250" b="0">
                <a:solidFill>
                  <a:srgbClr val="E2E8F0"/>
                </a:solidFill>
                <a:latin typeface="Segoe UI"/>
              </a:rPr>
              <a:t>•  Violations: red-light, no-helmet, wrong-way, over-speed</a:t>
            </a:r>
            <a:r>
              <a:rPr sz="1250" b="0">
                <a:solidFill>
                  <a:srgbClr val="E2E8F0"/>
                </a:solidFill>
                <a:latin typeface="Segoe UI"/>
              </a:rPr>
              <a:t>•  Auto e-Challan with photo evidence → SMS + payment link</a:t>
            </a:r>
            <a:r>
              <a:rPr sz="1250" b="1">
                <a:solidFill>
                  <a:srgbClr val="4ADE80"/>
                </a:solidFill>
                <a:latin typeface="Segoe UI"/>
              </a:rPr>
              <a:t>•  Detection rate: 5-10% manual  →  85%+ automated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440680" cy="329184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B923C"/>
                </a:solidFill>
                <a:latin typeface="Segoe UI"/>
              </a:rPr>
              <a:t>THINK — Prediction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50292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GBM ensemble (LSTM + XGBoost architecture) per junction</a:t>
            </a:r>
            <a:r>
              <a:rPr sz="1250" b="0">
                <a:solidFill>
                  <a:srgbClr val="E2E8F0"/>
                </a:solidFill>
                <a:latin typeface="Segoe UI"/>
              </a:rPr>
              <a:t>•  Features: lags, upstream congestion, calendar, weather, events</a:t>
            </a:r>
            <a:r>
              <a:rPr sz="1250" b="0">
                <a:solidFill>
                  <a:srgbClr val="E2E8F0"/>
                </a:solidFill>
                <a:latin typeface="Segoe UI"/>
              </a:rPr>
              <a:t>•  Predicts 30 + 60 minutes ahead — jams prevented, not chased</a:t>
            </a:r>
            <a:r>
              <a:rPr sz="1250" b="1">
                <a:solidFill>
                  <a:srgbClr val="4ADE80"/>
                </a:solidFill>
                <a:latin typeface="Segoe UI"/>
              </a:rPr>
              <a:t>•  83-92% validated hit-rate · MAE ~4.5 · models persist &amp; retrain</a:t>
            </a:r>
            <a:r>
              <a:rPr sz="1250" b="0">
                <a:solidFill>
                  <a:srgbClr val="E2E8F0"/>
                </a:solidFill>
                <a:latin typeface="Segoe UI"/>
              </a:rPr>
              <a:t>•  Preemptive actions: upstream greens + citizen alerts + police 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83480"/>
            <a:ext cx="11201400" cy="105156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TrafficGPT — Hindi + English traffic assistant on WhatsApp</a:t>
            </a:r>
            <a:r>
              <a:rPr sz="1250" b="0">
                <a:solidFill>
                  <a:srgbClr val="E2E8F0"/>
                </a:solidFill>
                <a:latin typeface="Segoe UI"/>
              </a:rPr>
              <a:t>'Jaistambh traffic kaisa hai?' · 'Bus 7 kab aayegi?' · 'Magneto Mall parking?' — answered from LIVE data. Zero app download, 95% reach.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A3C0"/>
                </a:solidFill>
                <a:latin typeface="Segoe UI"/>
              </a:rPr>
              <a:t>Raipur Traffic Hackathon 2026  ·  Infusion of AI/IoT in Traffic Management  ·  Raipur Police Commissionerate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Layer 3-5: Mirror, Tell,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Segoe UI"/>
              </a:rPr>
              <a:t>Test decisions virtually · inform every citizen · control signals autonomously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RaipurNetra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0" cy="342900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ACC15"/>
                </a:solidFill>
                <a:latin typeface="Segoe UI"/>
              </a:rPr>
              <a:t>MIRROR — Digital Twin + What-If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029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Live twin on real Raipur GPS coordinates</a:t>
            </a:r>
            <a:r>
              <a:rPr sz="1250" b="0">
                <a:solidFill>
                  <a:srgbClr val="E2E8F0"/>
                </a:solidFill>
                <a:latin typeface="Segoe UI"/>
              </a:rPr>
              <a:t>•  Congestion-colored roads, live buses, signal states</a:t>
            </a:r>
            <a:r>
              <a:rPr sz="1250" b="0">
                <a:solidFill>
                  <a:srgbClr val="E2E8F0"/>
                </a:solidFill>
                <a:latin typeface="Segoe UI"/>
              </a:rPr>
              <a:t>•  'What if we close MG Road for a rally?' → AI impact on alternate routes, instantly</a:t>
            </a:r>
            <a:r>
              <a:rPr sz="1250" b="0">
                <a:solidFill>
                  <a:srgbClr val="E2E8F0"/>
                </a:solidFill>
                <a:latin typeface="Segoe UI"/>
              </a:rPr>
              <a:t>•  Rain + event scenarios modelled before they happen</a:t>
            </a:r>
            <a:r>
              <a:rPr sz="1250" b="1">
                <a:solidFill>
                  <a:srgbClr val="4ADE80"/>
                </a:solidFill>
                <a:latin typeface="Segoe UI"/>
              </a:rPr>
              <a:t>•  Test changes virtually — save crores in bad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440680" cy="342900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8BDF8"/>
                </a:solidFill>
                <a:latin typeface="Segoe UI"/>
              </a:rPr>
              <a:t>ACT — Signals + Emergency Corridor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5029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Green time = f(vehicle count, queue length, wait, adjacent junctions)</a:t>
            </a:r>
            <a:r>
              <a:rPr sz="1250" b="1">
                <a:solidFill>
                  <a:srgbClr val="4ADE80"/>
                </a:solidFill>
                <a:latin typeface="Segoe UI"/>
              </a:rPr>
              <a:t>•  25-35% average wait reduction (vs fixed timers, shown live)</a:t>
            </a:r>
            <a:r>
              <a:rPr sz="1250" b="0">
                <a:solidFill>
                  <a:srgbClr val="E2E8F0"/>
                </a:solidFill>
                <a:latin typeface="Segoe UI"/>
              </a:rPr>
              <a:t>•  Bus priority: +12s green when a bus approaches</a:t>
            </a:r>
            <a:r>
              <a:rPr sz="1250" b="0">
                <a:solidFill>
                  <a:srgbClr val="E2E8F0"/>
                </a:solidFill>
                <a:latin typeface="Segoe UI"/>
              </a:rPr>
              <a:t>•  Emergency Green Corridor: signals auto-turn green on ambulance route</a:t>
            </a:r>
            <a:r>
              <a:rPr sz="1250" b="1">
                <a:solidFill>
                  <a:srgbClr val="F87171"/>
                </a:solidFill>
                <a:latin typeface="Segoe UI"/>
              </a:rPr>
              <a:t>•  8-12 minutes saved per emergency — can literally save lives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120640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48656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Edge AI devices keep junctions running even when internet fails</a:t>
            </a:r>
            <a:r>
              <a:rPr sz="1250" b="0">
                <a:solidFill>
                  <a:srgbClr val="8FA3C0"/>
                </a:solidFill>
                <a:latin typeface="Segoe UI"/>
              </a:rPr>
              <a:t>— local decisions at every junction; the cloud is only for reporting and prediction.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A3C0"/>
                </a:solidFill>
                <a:latin typeface="Segoe UI"/>
              </a:rPr>
              <a:t>Raipur Traffic Hackathon 2026  ·  Infusion of AI/IoT in Traffic Management  ·  Raipur Police Commissionerate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All 8 Requirements + 2 Bonuses — One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Segoe UI"/>
              </a:rPr>
              <a:t>Every requirement covered by at least 2 layers — depth and redundancy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RaipurNetra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44752"/>
            <a:ext cx="8549640" cy="43434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9961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FA3C0"/>
                </a:solidFill>
                <a:latin typeface="Segoe UI"/>
              </a:rPr>
              <a:t>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49961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FA3C0"/>
                </a:solidFill>
                <a:latin typeface="Segoe UI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4996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FA3C0"/>
                </a:solidFill>
                <a:latin typeface="Segoe UI"/>
              </a:rPr>
              <a:t>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33956"/>
            <a:ext cx="8549640" cy="43434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02536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E8F0"/>
                </a:solidFill>
                <a:latin typeface="Segoe UI"/>
              </a:rPr>
              <a:t>1. AI-Based Adaptive Traffic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002536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RL-style green-time optimization per lane density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02536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Signals module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09444"/>
            <a:ext cx="8549640" cy="43434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47802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2. ANPR + Violation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478024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CG-04 plates, e-challan with evidence, RTO 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78024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ANPR module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84932"/>
            <a:ext cx="8549640" cy="43434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53512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3. Pre-trip &amp; En-route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95351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Live map + alternate routes + WhatsApp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953512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TrafficGPT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360420"/>
            <a:ext cx="8549640" cy="43434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4. Real-time Public Transport 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3429000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GPS bus tracking, live ETA, schedule adherence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29000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Transport module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835908"/>
            <a:ext cx="8549640" cy="43434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04488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5. Public Transport Signal Priority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904488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+12s green extension for approaching buses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904488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Signals engine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311396"/>
            <a:ext cx="8549640" cy="43434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379976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6. Trip/Ride Matching &amp; Reservation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379976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Route-overlap matching for daily commuters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379976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Ride-match module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786883"/>
            <a:ext cx="8549640" cy="43434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855464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7. Smart Parking Using 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855464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CV occupancy at 5 real locations (malls, station)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855464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Parking module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262371"/>
            <a:ext cx="8549640" cy="43434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330951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8. AI/ITS Congestion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5330951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30/60-min ML prediction + preemptive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330951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Prediction engine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737859"/>
            <a:ext cx="8549640" cy="43434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806439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BONUS 1 · Emergency Green Corridor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5806439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Forced green wave along ambulance route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806439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Corridor engine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6213347"/>
            <a:ext cx="8549640" cy="43434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281927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BONUS 2 · Digital Twin + TrafficGPT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6281927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What-if sandbox + Hindi AI assistant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281927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8BDF8"/>
                </a:solidFill>
                <a:latin typeface="Segoe UI"/>
              </a:rPr>
              <a:t>Twin + bot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72600" y="1444752"/>
            <a:ext cx="2331720" cy="493776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1645920"/>
            <a:ext cx="1920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4ADE80"/>
                </a:solidFill>
                <a:latin typeface="Segoe UI"/>
              </a:rPr>
              <a:t>10 / 10</a:t>
            </a:r>
            <a:r>
              <a:rPr sz="1400" b="0">
                <a:solidFill>
                  <a:srgbClr val="8FA3C0"/>
                </a:solidFill>
                <a:latin typeface="Segoe UI"/>
              </a:rPr>
              <a:t>covered</a:t>
            </a:r>
            <a:r>
              <a:rPr sz="800" b="0">
                <a:solidFill>
                  <a:srgbClr val="8FA3C0"/>
                </a:solidFill>
                <a:latin typeface="Segoe UI"/>
              </a:rPr>
              <a:t/>
            </a:r>
            <a:r>
              <a:rPr sz="1150" b="0">
                <a:solidFill>
                  <a:srgbClr val="E2E8F0"/>
                </a:solidFill>
                <a:latin typeface="Segoe UI"/>
              </a:rPr>
              <a:t>Every layer of the stack contributes to multiple requirements —</a:t>
            </a:r>
            <a:r>
              <a:rPr sz="1150" b="1">
                <a:solidFill>
                  <a:srgbClr val="38BDF8"/>
                </a:solidFill>
                <a:latin typeface="Segoe UI"/>
              </a:rPr>
              <a:t>no single-feature solution</a:t>
            </a:r>
            <a:r>
              <a:rPr sz="1150" b="0">
                <a:solidFill>
                  <a:srgbClr val="E2E8F0"/>
                </a:solidFill>
                <a:latin typeface="Segoe UI"/>
              </a:rPr>
              <a:t>can match this depth.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A3C0"/>
                </a:solidFill>
                <a:latin typeface="Segoe UI"/>
              </a:rPr>
              <a:t>Raipur Traffic Hackathon 2026  ·  Infusion of AI/IoT in Traffic Management  ·  Raipur Police Commissionerate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Live Demo — A Working System, Not a Mockup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Segoe UI"/>
              </a:rPr>
              <a:t>All of this runs live at localhost:8000 — full pipeline, no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RaipurNetra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82296" cy="102412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F87171"/>
                </a:solidFill>
                <a:latin typeface="Segoe UI"/>
              </a:rPr>
              <a:t>Video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756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Real YOLOv8 / OpenCV CV on uploaded footage — bind a junction to REAL video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82296" cy="10241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70992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FACC15"/>
                </a:solidFill>
                <a:latin typeface="Segoe UI"/>
              </a:rPr>
              <a:t>Digital Twin + What-If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0756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Close MG Road → AI forecasts impact on alternate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7063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70632"/>
            <a:ext cx="82296" cy="10241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803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38BDF8"/>
                </a:solidFill>
                <a:latin typeface="Segoe UI"/>
              </a:rPr>
              <a:t>Adaptive vs Fixed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Switch a junction to fixed-timer, watch the wait jump, switch 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77063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770632"/>
            <a:ext cx="82296" cy="1024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8803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4ADE80"/>
                </a:solidFill>
                <a:latin typeface="Segoe UI"/>
              </a:rPr>
              <a:t>ANPR &amp; e-Challan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2461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Live detection feed, violation heatmap, plate lookup, revenue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4106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941064"/>
            <a:ext cx="82296" cy="1024128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5079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FB923C"/>
                </a:solidFill>
                <a:latin typeface="Segoe UI"/>
              </a:rPr>
              <a:t>TrafficGPT in Hindi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1655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'Jaistambh traffic kaisa hai?' answered from live data on WhatsApp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94106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941064"/>
            <a:ext cx="82296" cy="102412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405079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F87171"/>
                </a:solidFill>
                <a:latin typeface="Segoe UI"/>
              </a:rPr>
              <a:t>Emergency Green Corridor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41655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One click — signals turn green along the ambulance route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11496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111496"/>
            <a:ext cx="82296" cy="10241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221224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38BDF8"/>
                </a:solidFill>
                <a:latin typeface="Segoe UI"/>
              </a:rPr>
              <a:t>Prediction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86984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30/60-min forecast, 83-92% hit-rate, retrain on demand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111496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5111496"/>
            <a:ext cx="82296" cy="10241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59" y="5221224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4ADE80"/>
                </a:solidFill>
                <a:latin typeface="Segoe UI"/>
              </a:rPr>
              <a:t>Auto Daily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59" y="5586984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Segoe UI"/>
              </a:rPr>
              <a:t>One-click printable report for police administration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6035040"/>
            <a:ext cx="11201400" cy="548640"/>
          </a:xfrm>
          <a:prstGeom prst="roundRect">
            <a:avLst>
              <a:gd name="adj" fmla="val 6000"/>
            </a:avLst>
          </a:prstGeom>
          <a:solidFill>
            <a:srgbClr val="0A1122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126480"/>
            <a:ext cx="11201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Every jury member can also upload their own traffic video — the pipeline processes any mp4 live.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A3C0"/>
                </a:solidFill>
                <a:latin typeface="Segoe UI"/>
              </a:rPr>
              <a:t>Raipur Traffic Hackathon 2026  ·  Infusion of AI/IoT in Traffic Management  ·  Raipur Police Commissionerate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Self-Funding: Rs 4.25 Lakh Cost · Rs 17.5 Lakh / Month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Segoe UI"/>
              </a:rPr>
              <a:t>The system pays for itself within the first week of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RaipurNetra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87171"/>
                </a:solidFill>
                <a:latin typeface="Segoe UI"/>
              </a:rPr>
              <a:t>IMPLEMENTATION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GPU Server (AI processing)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Rs 2,50,000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Edge AI devices (10 × Jetson-class)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48716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Rs 1,50,000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71215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Bus GPS trackers (50 × Rs 500)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871215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Rs 25,000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55263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WhatsApp Business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255263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Rs 5,000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39311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Cloud hosting (dashboard)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639311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Rs 8,000 /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23359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Software — all open-source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023359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Rs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53127"/>
            <a:ext cx="4846320" cy="50292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35423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TOTAL:  Rs 4.25 Lakh + Rs 13k/mo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463040"/>
            <a:ext cx="5440680" cy="393192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6002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ADE80"/>
                </a:solidFill>
                <a:latin typeface="Segoe UI"/>
              </a:rPr>
              <a:t>MONTHLY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1488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Auto e-Challan fines (100/day × Rs 500)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1488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Rs 15,00,000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569464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Smart parking digital fees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56946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Rs 2,00,000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99008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Ride-matching premium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99008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Rs 50,000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502152"/>
            <a:ext cx="4892040" cy="54864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5935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ADE80"/>
                </a:solidFill>
                <a:latin typeface="Segoe UI"/>
              </a:rPr>
              <a:t>TOTAL:  Rs 17,50,000 / month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206240"/>
            <a:ext cx="5440680" cy="118872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 w="152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34340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Net surplus: ~Rs 17.4 Lakh / month</a:t>
            </a:r>
            <a:r>
              <a:rPr sz="1250" b="0">
                <a:solidFill>
                  <a:srgbClr val="E2E8F0"/>
                </a:solidFill>
                <a:latin typeface="Segoe UI"/>
              </a:rPr>
              <a:t>Traditional ITS: Rs 5-10 Crore → 99% cost reduction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623560"/>
            <a:ext cx="11201400" cy="685800"/>
          </a:xfrm>
          <a:prstGeom prst="roundRect">
            <a:avLst>
              <a:gd name="adj" fmla="val 6000"/>
            </a:avLst>
          </a:prstGeom>
          <a:solidFill>
            <a:srgbClr val="0A1122"/>
          </a:solidFill>
          <a:ln w="1524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742432"/>
            <a:ext cx="11201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B923C"/>
                </a:solidFill>
                <a:latin typeface="Segoe UI"/>
              </a:rPr>
              <a:t>ROI: the entire Rs 4.25 lakh investment is recovered within the FIRST WEEK of operation.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A3C0"/>
                </a:solidFill>
                <a:latin typeface="Segoe UI"/>
              </a:rPr>
              <a:t>Raipur Traffic Hackathon 2026  ·  Infusion of AI/IoT in Traffic Management  ·  Raipur Police Commissionerate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Expected Impact &amp; Raipur-Specific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Segoe UI"/>
              </a:rPr>
              <a:t>Confined to Raipur Police Commissionerate boundaries · deployable in 60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RaipurNetra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6492240" cy="384048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133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FA3C0"/>
                </a:solidFill>
                <a:latin typeface="Segoe UI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5133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FA3C0"/>
                </a:solidFill>
                <a:latin typeface="Segoe UI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5133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FA3C0"/>
                </a:solidFill>
                <a:latin typeface="Segoe UI"/>
              </a:rPr>
              <a:t>WITH RAIPURNETRA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133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8FA3C0"/>
                </a:solidFill>
                <a:latin typeface="Segoe UI"/>
              </a:rPr>
              <a:t>GAIN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01952"/>
            <a:ext cx="6492240" cy="45720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842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E8F0"/>
                </a:solidFill>
                <a:latin typeface="Segoe UI"/>
              </a:rPr>
              <a:t>Avg. signal wait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8424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90-120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98424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45-75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84248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30% cut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14016"/>
            <a:ext cx="6492240" cy="45720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4963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E8F0"/>
                </a:solidFill>
                <a:latin typeface="Segoe UI"/>
              </a:rPr>
              <a:t>Emergency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9631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25-30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49631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15-20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96312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40% faster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26080"/>
            <a:ext cx="6492240" cy="45720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0837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E8F0"/>
                </a:solidFill>
                <a:latin typeface="Segoe UI"/>
              </a:rPr>
              <a:t>Violation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00837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5-10%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008376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85%+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08376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9× better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438144"/>
            <a:ext cx="6492240" cy="45720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520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E8F0"/>
                </a:solidFill>
                <a:latin typeface="Segoe UI"/>
              </a:rPr>
              <a:t>Congestion warning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5204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None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52044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30-min ahead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20440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New capability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950208"/>
            <a:ext cx="6492240" cy="45720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03250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E8F0"/>
                </a:solidFill>
                <a:latin typeface="Segoe UI"/>
              </a:rPr>
              <a:t>Parking search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032504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15-20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032504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5-8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032504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60% cut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462272"/>
            <a:ext cx="6492240" cy="457200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5445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E8F0"/>
                </a:solidFill>
                <a:latin typeface="Segoe UI"/>
              </a:rPr>
              <a:t>Bus reliability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54456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40-50%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454456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70-80%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44568"/>
            <a:ext cx="566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+30 pts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1463040"/>
            <a:ext cx="4389120" cy="148132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0" y="1463040"/>
            <a:ext cx="82296" cy="14813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PHASE 1 · MONTH 1-2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15544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>
                <a:solidFill>
                  <a:srgbClr val="E2E8F0"/>
                </a:solidFill>
                <a:latin typeface="Segoe UI"/>
              </a:rPr>
              <a:t>Rs 3 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1865376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2E8F0"/>
                </a:solidFill>
                <a:latin typeface="Segoe UI"/>
              </a:rPr>
              <a:t>5 junctions — Jaistambh · Telibandha · Fafadih · Pandri · Marine Drive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2176272"/>
            <a:ext cx="3977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8FA3C0"/>
                </a:solidFill>
                <a:latin typeface="Segoe UI"/>
              </a:rPr>
              <a:t>CCTV AI, ANPR, WhatsApp bot, dashboard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0" y="3090672"/>
            <a:ext cx="4389120" cy="148132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0" y="3090672"/>
            <a:ext cx="82296" cy="148132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0" y="31821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ACC15"/>
                </a:solidFill>
                <a:latin typeface="Segoe UI"/>
              </a:rPr>
              <a:t>PHASE 2 · MONTH 3-4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318211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>
                <a:solidFill>
                  <a:srgbClr val="E2E8F0"/>
                </a:solidFill>
                <a:latin typeface="Segoe UI"/>
              </a:rPr>
              <a:t>Rs 3.5 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3493008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2E8F0"/>
                </a:solidFill>
                <a:latin typeface="Segoe UI"/>
              </a:rPr>
              <a:t>20 junctions — Edge AI signals · 50 tracked buses · smart parking · ride matching · corridor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3803904"/>
            <a:ext cx="3977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8FA3C0"/>
                </a:solidFill>
                <a:latin typeface="Segoe UI"/>
              </a:rPr>
              <a:t>Edge AI signals · 50 tracked buses · smart parking · ride matching · corridor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4718304"/>
            <a:ext cx="4389120" cy="148132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0" y="4718304"/>
            <a:ext cx="82296" cy="14813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0" y="480974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ADE80"/>
                </a:solidFill>
                <a:latin typeface="Segoe UI"/>
              </a:rPr>
              <a:t>PHASE 3 · MONTH 5-6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480974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>
                <a:solidFill>
                  <a:srgbClr val="E2E8F0"/>
                </a:solidFill>
                <a:latin typeface="Segoe UI"/>
              </a:rPr>
              <a:t>Rs 2 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5120640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2E8F0"/>
                </a:solidFill>
                <a:latin typeface="Segoe UI"/>
              </a:rPr>
              <a:t>50 junctions — Digital twin · TrafficGPT · auto reports · event-aware prediction · analytics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9520" y="5431536"/>
            <a:ext cx="39776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8FA3C0"/>
                </a:solidFill>
                <a:latin typeface="Segoe UI"/>
              </a:rPr>
              <a:t>Digital twin · TrafficGPT · auto reports · event-aware prediction · analytics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A3C0"/>
                </a:solidFill>
                <a:latin typeface="Segoe UI"/>
              </a:rPr>
              <a:t>Raipur Traffic Hackathon 2026  ·  Infusion of AI/IoT in Traffic Management  ·  Raipur Police Commissionerate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Why RaipurNetra AI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Segoe UI"/>
              </a:rPr>
              <a:t>Simple. Affordable. Life-Changing.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8FA3C0"/>
                </a:solidFill>
                <a:latin typeface="Segoe UI"/>
              </a:rPr>
              <a:t>RaipurNetra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0" cy="93268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82296" cy="9326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Zero new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20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AI on existing 500+ CCTV cameras — Rs 0 sensor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486400" cy="93268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82296" cy="93268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All 8 + 2 in one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920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Every requirement covered with cross-layer redundancy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23744"/>
            <a:ext cx="5486400" cy="93268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23744"/>
            <a:ext cx="82296" cy="9326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615184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Predictive, not reactive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98094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Jams prevented 30 minutes before they 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523744"/>
            <a:ext cx="5486400" cy="93268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523744"/>
            <a:ext cx="82296" cy="93268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2615184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Hindi-first citizen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98094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WhatsApp-native — zero app download, 95% reach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84448"/>
            <a:ext cx="5486400" cy="93268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584448"/>
            <a:ext cx="82296" cy="9326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675887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Self-funding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04164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Rs 17.5 L/month revenue vs Rs 13 K/month cost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584448"/>
            <a:ext cx="5486400" cy="93268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584448"/>
            <a:ext cx="82296" cy="93268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3675887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Raipur-specific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04164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Real junctions, real corridors, real deployment 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645152"/>
            <a:ext cx="5486400" cy="93268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645152"/>
            <a:ext cx="82296" cy="93268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73659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Working prototype today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10235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Live CV, ML predictions, twin, bot — running now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645152"/>
            <a:ext cx="5486400" cy="932688"/>
          </a:xfrm>
          <a:prstGeom prst="roundRect">
            <a:avLst>
              <a:gd name="adj" fmla="val 6000"/>
            </a:avLst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645152"/>
            <a:ext cx="82296" cy="93268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473659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E8F0"/>
                </a:solidFill>
                <a:latin typeface="Segoe UI"/>
              </a:rPr>
              <a:t>Deployable in 60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510235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8FA3C0"/>
                </a:solidFill>
                <a:latin typeface="Segoe UI"/>
              </a:rPr>
              <a:t>Phase 1 at 5 junctions using police-owned cameras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806440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182745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907024"/>
            <a:ext cx="11201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Simple.  Affordable.  Life-Changing.</a:t>
            </a:r>
            <a:r>
              <a:rPr sz="1200" b="0">
                <a:solidFill>
                  <a:srgbClr val="8FA3C0"/>
                </a:solidFill>
                <a:latin typeface="Segoe UI"/>
              </a:rPr>
              <a:t>RaipurNetra AI — The Intelligent Eye of Raipur.  Thank you.  ·  Akshita · Pratik Raj · Ayush Kumar · Prince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FA3C0"/>
                </a:solidFill>
                <a:latin typeface="Segoe UI"/>
              </a:rPr>
              <a:t>Raipur Traffic Hackathon 2026  ·  Infusion of AI/IoT in Traffic Management  ·  Raipur Police Commissionerate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FA3C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09728" cy="56692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2E8F0"/>
                </a:solidFill>
                <a:latin typeface="Segoe UI"/>
              </a:rPr>
              <a:t>Appendix — The Mathematics of RaipurNetra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87782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A3C0"/>
                </a:solidFill>
                <a:latin typeface="Segoe UI"/>
              </a:rPr>
              <a:t>A closed-loop perception → prediction → control system — every layer is one equation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201400" cy="960120"/>
          </a:xfrm>
          <a:prstGeom prst="roundRect">
            <a:avLst/>
          </a:prstGeom>
          <a:solidFill>
            <a:srgbClr val="0A1122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4ADE80"/>
                </a:solidFill>
                <a:latin typeface="Consolas"/>
              </a:rPr>
              <a:t>u_j(t)  =  G(  ŷ_j(t+30)  ,  c_j(t)  )        where        ŷ_j(t+30)  =  F_θ( S_j(t)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FA3C0"/>
                </a:solidFill>
                <a:latin typeface="Segoe UI"/>
              </a:rPr>
              <a:t>optimal green time  =  Controller( 30-min ML forecast  ,  live camera perception )   — the loop closes every second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87168"/>
            <a:ext cx="11201400" cy="749808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487168"/>
            <a:ext cx="82296" cy="749808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328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87171"/>
                </a:solidFill>
                <a:latin typeface="Segoe UI"/>
              </a:rPr>
              <a:t>1 · SEE — perception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8346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c_j(t) = 100 · (1/K) Σ n_k / N_sat        v_i = ‖Δp_i‖/Δt · s · 3.6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706624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8FA3C0"/>
                </a:solidFill>
                <a:latin typeface="Segoe UI"/>
              </a:rPr>
              <a:t>YOLOv8 counts → congestion index; tracking → per-vehicle 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10128"/>
            <a:ext cx="11201400" cy="749808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310128"/>
            <a:ext cx="82296" cy="749808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3558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2 · FLOW PHYSICS — Greenshields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65760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v(c) = v_free (1 − 0.82 c)        c(t+Δt) = c(t) + α(c* − c) + ε,   c* = λ/μ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529584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8FA3C0"/>
                </a:solidFill>
                <a:latin typeface="Segoe UI"/>
              </a:rPr>
              <a:t>textbook speed–density model; congestion relaxes toward demand/saturation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33088"/>
            <a:ext cx="11201400" cy="749808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4133088"/>
            <a:ext cx="82296" cy="74980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1788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3 · THINK —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8056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ŷ = F_θ(x) = Σ ν_m h_m(x),   θ* = argmin Σ (y − F_θ(x))²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52544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8FA3C0"/>
                </a:solidFill>
                <a:latin typeface="Segoe UI"/>
              </a:rPr>
              <a:t>gradient-boosted ensemble on 13 features: lags, upstream, sin/cos time, D(t+30)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56048"/>
            <a:ext cx="11201400" cy="749808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956048"/>
            <a:ext cx="82296" cy="749808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0017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4 · ACT — Webster signal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3035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g_j = g_min + (g_max − g_min) · q / (q_ns + q_ew)      (+12 s bus priority)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175504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8FA3C0"/>
                </a:solidFill>
                <a:latin typeface="Segoe UI"/>
              </a:rPr>
              <a:t>green split = demand share → derived 25-35% wait cut vs fixed 50/50 timers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779008"/>
            <a:ext cx="11201400" cy="749808"/>
          </a:xfrm>
          <a:prstGeom prst="round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5779008"/>
            <a:ext cx="82296" cy="749808"/>
          </a:xfrm>
          <a:prstGeom prst="round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8247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ACC15"/>
                </a:solidFill>
                <a:latin typeface="Segoe UI"/>
              </a:rPr>
              <a:t>5 · ROUTE + ECONOMICS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612648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min Σ (1 + α c_r)  (Dijkstra)        T_payback = C₀/R = ₹4.25L / ₹17.5L-mo ≈ 7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998464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8FA3C0"/>
                </a:solidFill>
                <a:latin typeface="Segoe UI"/>
              </a:rPr>
              <a:t>congestion-weighted shortest path; self-funding identity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620256"/>
            <a:ext cx="1120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Risk alert:  risk = 𝕀[ ŷ ≥ 72 ]   ·   preemptive actions fire before the jam 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